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8" r:id="rId2"/>
    <p:sldId id="260" r:id="rId3"/>
    <p:sldId id="261" r:id="rId4"/>
    <p:sldId id="267" r:id="rId5"/>
    <p:sldId id="263" r:id="rId6"/>
    <p:sldId id="265"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66" autoAdjust="0"/>
    <p:restoredTop sz="65796" autoAdjust="0"/>
  </p:normalViewPr>
  <p:slideViewPr>
    <p:cSldViewPr snapToGrid="0">
      <p:cViewPr varScale="1">
        <p:scale>
          <a:sx n="54" d="100"/>
          <a:sy n="54" d="100"/>
        </p:scale>
        <p:origin x="1718"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10/18/2026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85629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a:t>
            </a:r>
            <a:r>
              <a:rPr lang="en-US" baseline="0" dirty="0"/>
              <a:t> speaker notes required for this slide.]</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1</a:t>
            </a:fld>
            <a:endParaRPr lang="en-US"/>
          </a:p>
        </p:txBody>
      </p:sp>
    </p:spTree>
    <p:extLst>
      <p:ext uri="{BB962C8B-B14F-4D97-AF65-F5344CB8AC3E}">
        <p14:creationId xmlns:p14="http://schemas.microsoft.com/office/powerpoint/2010/main" val="4216242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looking at what </a:t>
            </a:r>
            <a:r>
              <a:rPr lang="en-US" dirty="0" err="1"/>
              <a:t>DriverPass</a:t>
            </a:r>
            <a:r>
              <a:rPr lang="en-US" dirty="0"/>
              <a:t> needs to succeed, we divided the goals into two main buckets. First, we focused on the core features, like giving your students a self-service dashboard to handle their own lesson bookings, changes, and test prep without needing to call the office. We also made sure the office secretary has a dedicated screen to quickly register phone-in customers. </a:t>
            </a:r>
            <a:r>
              <a:rPr lang="en-US"/>
              <a:t>Second, for the system rules, we ensured the platform runs entirely online in the cloud so it updates instantly when the DMV pushes out new test information, keeping your data accurate and lag-free.</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2</a:t>
            </a:fld>
            <a:endParaRPr lang="en-US"/>
          </a:p>
        </p:txBody>
      </p:sp>
    </p:spTree>
    <p:extLst>
      <p:ext uri="{BB962C8B-B14F-4D97-AF65-F5344CB8AC3E}">
        <p14:creationId xmlns:p14="http://schemas.microsoft.com/office/powerpoint/2010/main" val="339926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0" u="none" strike="noStrike" kern="1200" dirty="0">
                <a:solidFill>
                  <a:schemeClr val="tx1"/>
                </a:solidFill>
                <a:effectLst/>
                <a:latin typeface="+mn-lt"/>
                <a:ea typeface="+mn-ea"/>
                <a:cs typeface="+mn-cs"/>
              </a:rPr>
              <a:t>This diagram acts as our map to show who uses the software and what actions they can take. We have mapped out specific lanes for different roles. Students can handle bookings, the secretary manages office help, Liam can instantly pause packages if slots are full or print business reports, and Ian has full security access to manage employees. This keeps the application incredibly safe because it builds a hard digital wall between basic customer options and your internal business records.</a:t>
            </a:r>
          </a:p>
          <a:p>
            <a:br>
              <a:rPr lang="en-US" dirty="0"/>
            </a:b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3</a:t>
            </a:fld>
            <a:endParaRPr lang="en-US"/>
          </a:p>
        </p:txBody>
      </p:sp>
    </p:spTree>
    <p:extLst>
      <p:ext uri="{BB962C8B-B14F-4D97-AF65-F5344CB8AC3E}">
        <p14:creationId xmlns:p14="http://schemas.microsoft.com/office/powerpoint/2010/main" val="226283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flowchart shows the exact step-by-step path a student takes when they want to book a behind-the-wheel lesson. The system guides them from logging in, to selecting a package, down to picking a time. The most important part here is the center checkpoint. The system automatically cross-references your 10 cars and 10 drivers in the background. If a slot is open, it matches them instantly. If a slot is full, the system gently loops the customer back to pick another open slot, preventing messy scheduling mistakes or double-bookings.</a:t>
            </a:r>
          </a:p>
        </p:txBody>
      </p:sp>
      <p:sp>
        <p:nvSpPr>
          <p:cNvPr id="4" name="Slide Number Placeholder 3"/>
          <p:cNvSpPr>
            <a:spLocks noGrp="1"/>
          </p:cNvSpPr>
          <p:nvPr>
            <p:ph type="sldNum" sz="quarter" idx="10"/>
          </p:nvPr>
        </p:nvSpPr>
        <p:spPr/>
        <p:txBody>
          <a:bodyPr/>
          <a:lstStyle/>
          <a:p>
            <a:fld id="{E0746DE6-3336-457D-A091-FA20AC1C536E}" type="slidenum">
              <a:rPr lang="en-US" smtClean="0"/>
              <a:t>4</a:t>
            </a:fld>
            <a:endParaRPr lang="en-US"/>
          </a:p>
        </p:txBody>
      </p:sp>
    </p:spTree>
    <p:extLst>
      <p:ext uri="{BB962C8B-B14F-4D97-AF65-F5344CB8AC3E}">
        <p14:creationId xmlns:p14="http://schemas.microsoft.com/office/powerpoint/2010/main" val="896184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0" u="none" strike="noStrike" kern="1200" dirty="0">
                <a:solidFill>
                  <a:schemeClr val="tx1"/>
                </a:solidFill>
                <a:effectLst/>
                <a:latin typeface="+mn-lt"/>
                <a:ea typeface="+mn-ea"/>
                <a:cs typeface="+mn-cs"/>
              </a:rPr>
              <a:t>Security is a top priority for protecting your business and your customers' trust. Every user gets a unique login, and if someone tries to brute-force guess a password over and over, the software automatically locks the account down to prevent hacking. We have also included a Master Key feature for Ian, allowing him to immediately block old employees from logging in without needing to rewrite any website code. Finally, all sensitive inputs like credit card info are encrypted safely in the cloud so they can never be intercepted.</a:t>
            </a:r>
          </a:p>
        </p:txBody>
      </p:sp>
      <p:sp>
        <p:nvSpPr>
          <p:cNvPr id="4" name="Slide Number Placeholder 3"/>
          <p:cNvSpPr>
            <a:spLocks noGrp="1"/>
          </p:cNvSpPr>
          <p:nvPr>
            <p:ph type="sldNum" sz="quarter" idx="10"/>
          </p:nvPr>
        </p:nvSpPr>
        <p:spPr/>
        <p:txBody>
          <a:bodyPr/>
          <a:lstStyle/>
          <a:p>
            <a:fld id="{E0746DE6-3336-457D-A091-FA20AC1C536E}" type="slidenum">
              <a:rPr lang="en-US" smtClean="0"/>
              <a:t>5</a:t>
            </a:fld>
            <a:endParaRPr lang="en-US"/>
          </a:p>
        </p:txBody>
      </p:sp>
    </p:spTree>
    <p:extLst>
      <p:ext uri="{BB962C8B-B14F-4D97-AF65-F5344CB8AC3E}">
        <p14:creationId xmlns:p14="http://schemas.microsoft.com/office/powerpoint/2010/main" val="3491611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dirty="0"/>
            </a:br>
            <a:r>
              <a:rPr lang="en-US" dirty="0"/>
              <a:t>To keep expectations realistic, every system has natural boundaries. First, because the platform relies on a live master calendar to prevent duplicate entries, users cannot manage reservations while offline. Second, regular staff members cannot modify how the website functions; they can only interact with the clear dashboard menus pre-built for them. Lastly, the software is strictly constrained by your real-world resources, meaning it hard-caps active bookings to 10 lessons at any single time because you currently have 10 cars and 10 drivers available.</a:t>
            </a:r>
          </a:p>
        </p:txBody>
      </p:sp>
      <p:sp>
        <p:nvSpPr>
          <p:cNvPr id="4" name="Slide Number Placeholder 3"/>
          <p:cNvSpPr>
            <a:spLocks noGrp="1"/>
          </p:cNvSpPr>
          <p:nvPr>
            <p:ph type="sldNum" sz="quarter" idx="10"/>
          </p:nvPr>
        </p:nvSpPr>
        <p:spPr/>
        <p:txBody>
          <a:bodyPr/>
          <a:lstStyle/>
          <a:p>
            <a:fld id="{E0746DE6-3336-457D-A091-FA20AC1C536E}" type="slidenum">
              <a:rPr lang="en-US" smtClean="0"/>
              <a:t>6</a:t>
            </a:fld>
            <a:endParaRPr lang="en-US"/>
          </a:p>
        </p:txBody>
      </p:sp>
    </p:spTree>
    <p:extLst>
      <p:ext uri="{BB962C8B-B14F-4D97-AF65-F5344CB8AC3E}">
        <p14:creationId xmlns:p14="http://schemas.microsoft.com/office/powerpoint/2010/main" val="970660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sz="half" idx="10"/>
          </p:nvPr>
        </p:nvSpPr>
        <p:spPr/>
        <p:txBody>
          <a:bodyPr/>
          <a:lstStyle/>
          <a:p>
            <a:fld id="{5D6495F3-B757-4FAF-98AA-EDA7D1485485}" type="datetimeFigureOut">
              <a:rPr lang="en-US" smtClean="0"/>
              <a:t>10/18/2026</a:t>
            </a:fld>
            <a:endParaRPr lang="en-US"/>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45690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sz="half" idx="10"/>
          </p:nvPr>
        </p:nvSpPr>
        <p:spPr/>
        <p:txBody>
          <a:bodyPr/>
          <a:lstStyle/>
          <a:p>
            <a:fld id="{5D6495F3-B757-4FAF-98AA-EDA7D1485485}" type="datetimeFigureOut">
              <a:rPr lang="en-US" smtClean="0"/>
              <a:t>10/18/2026</a:t>
            </a:fld>
            <a:endParaRPr lang="en-US"/>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27576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sz="half" idx="10"/>
          </p:nvPr>
        </p:nvSpPr>
        <p:spPr/>
        <p:txBody>
          <a:bodyPr/>
          <a:lstStyle/>
          <a:p>
            <a:fld id="{5D6495F3-B757-4FAF-98AA-EDA7D1485485}" type="datetimeFigureOut">
              <a:rPr lang="en-US" smtClean="0"/>
              <a:t>10/18/2026</a:t>
            </a:fld>
            <a:endParaRPr lang="en-US"/>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63932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sz="half" idx="10"/>
          </p:nvPr>
        </p:nvSpPr>
        <p:spPr/>
        <p:txBody>
          <a:bodyPr/>
          <a:lstStyle/>
          <a:p>
            <a:fld id="{5D6495F3-B757-4FAF-98AA-EDA7D1485485}" type="datetimeFigureOut">
              <a:rPr lang="en-US" smtClean="0"/>
              <a:t>10/18/2026</a:t>
            </a:fld>
            <a:endParaRPr lang="en-US"/>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08150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sz="half" idx="10"/>
          </p:nvPr>
        </p:nvSpPr>
        <p:spPr/>
        <p:txBody>
          <a:bodyPr/>
          <a:lstStyle/>
          <a:p>
            <a:fld id="{5D6495F3-B757-4FAF-98AA-EDA7D1485485}" type="datetimeFigureOut">
              <a:rPr lang="en-US" smtClean="0"/>
              <a:t>10/18/2026</a:t>
            </a:fld>
            <a:endParaRPr lang="en-US"/>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89414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sz="half" idx="10"/>
          </p:nvPr>
        </p:nvSpPr>
        <p:spPr/>
        <p:txBody>
          <a:bodyPr/>
          <a:lstStyle/>
          <a:p>
            <a:fld id="{5D6495F3-B757-4FAF-98AA-EDA7D1485485}" type="datetimeFigureOut">
              <a:rPr lang="en-US" smtClean="0"/>
              <a:t>10/18/2026</a:t>
            </a:fld>
            <a:endParaRPr lang="en-US"/>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3514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sz="half" idx="10"/>
          </p:nvPr>
        </p:nvSpPr>
        <p:spPr/>
        <p:txBody>
          <a:bodyPr/>
          <a:lstStyle/>
          <a:p>
            <a:fld id="{5D6495F3-B757-4FAF-98AA-EDA7D1485485}" type="datetimeFigureOut">
              <a:rPr lang="en-US" smtClean="0"/>
              <a:t>10/18/2026</a:t>
            </a:fld>
            <a:endParaRPr lang="en-US"/>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9780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sz="half" idx="10"/>
          </p:nvPr>
        </p:nvSpPr>
        <p:spPr/>
        <p:txBody>
          <a:bodyPr/>
          <a:lstStyle/>
          <a:p>
            <a:fld id="{5D6495F3-B757-4FAF-98AA-EDA7D1485485}" type="datetimeFigureOut">
              <a:rPr lang="en-US" smtClean="0"/>
              <a:t>10/18/2026</a:t>
            </a:fld>
            <a:endParaRPr lang="en-US"/>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75406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sz="half" idx="10"/>
          </p:nvPr>
        </p:nvSpPr>
        <p:spPr/>
        <p:txBody>
          <a:bodyPr/>
          <a:lstStyle/>
          <a:p>
            <a:fld id="{5D6495F3-B757-4FAF-98AA-EDA7D1485485}" type="datetimeFigureOut">
              <a:rPr lang="en-US" smtClean="0"/>
              <a:t>10/18/2026</a:t>
            </a:fld>
            <a:endParaRPr lang="en-US"/>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64474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sz="half" idx="10"/>
          </p:nvPr>
        </p:nvSpPr>
        <p:spPr/>
        <p:txBody>
          <a:bodyPr/>
          <a:lstStyle/>
          <a:p>
            <a:fld id="{5D6495F3-B757-4FAF-98AA-EDA7D1485485}" type="datetimeFigureOut">
              <a:rPr lang="en-US" smtClean="0"/>
              <a:t>10/18/2026</a:t>
            </a:fld>
            <a:endParaRPr lang="en-US"/>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18731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sz="half" idx="10"/>
          </p:nvPr>
        </p:nvSpPr>
        <p:spPr/>
        <p:txBody>
          <a:bodyPr/>
          <a:lstStyle/>
          <a:p>
            <a:fld id="{5D6495F3-B757-4FAF-98AA-EDA7D1485485}" type="datetimeFigureOut">
              <a:rPr lang="en-US" smtClean="0"/>
              <a:t>10/18/2026</a:t>
            </a:fld>
            <a:endParaRPr lang="en-US"/>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454621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t>10/18/2026</a:t>
            </a:fld>
            <a:endParaRPr lang="en-US"/>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t>‹#›</a:t>
            </a:fld>
            <a:endParaRPr lang="en-US"/>
          </a:p>
        </p:txBody>
      </p:sp>
    </p:spTree>
    <p:extLst>
      <p:ext uri="{BB962C8B-B14F-4D97-AF65-F5344CB8AC3E}">
        <p14:creationId xmlns:p14="http://schemas.microsoft.com/office/powerpoint/2010/main" val="1825945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3045368" y="2043663"/>
            <a:ext cx="6105194" cy="2031055"/>
          </a:xfrm>
        </p:spPr>
        <p:txBody>
          <a:bodyPr>
            <a:normAutofit/>
          </a:bodyPr>
          <a:lstStyle/>
          <a:p>
            <a:r>
              <a:rPr lang="en-US" dirty="0" err="1">
                <a:solidFill>
                  <a:srgbClr val="FFFFFF"/>
                </a:solidFill>
              </a:rPr>
              <a:t>DriverPass</a:t>
            </a:r>
            <a:br>
              <a:rPr lang="en-US" dirty="0">
                <a:solidFill>
                  <a:srgbClr val="FFFFFF"/>
                </a:solidFill>
              </a:rPr>
            </a:br>
            <a:r>
              <a:rPr lang="en-US" dirty="0">
                <a:solidFill>
                  <a:srgbClr val="FFFFFF"/>
                </a:solidFill>
              </a:rPr>
              <a:t>System Analysis</a:t>
            </a:r>
          </a:p>
        </p:txBody>
      </p:sp>
      <p:sp>
        <p:nvSpPr>
          <p:cNvPr id="3" name="Content Placeholder 2"/>
          <p:cNvSpPr>
            <a:spLocks noGrp="1"/>
          </p:cNvSpPr>
          <p:nvPr>
            <p:ph type="subTitle" idx="1"/>
          </p:nvPr>
        </p:nvSpPr>
        <p:spPr>
          <a:xfrm>
            <a:off x="3045368" y="4074718"/>
            <a:ext cx="6105194" cy="682079"/>
          </a:xfrm>
        </p:spPr>
        <p:txBody>
          <a:bodyPr>
            <a:normAutofit/>
          </a:bodyPr>
          <a:lstStyle/>
          <a:p>
            <a:r>
              <a:rPr lang="en-US" dirty="0">
                <a:solidFill>
                  <a:srgbClr val="FFFFFF"/>
                </a:solidFill>
              </a:rPr>
              <a:t>Henrietta Batson</a:t>
            </a:r>
            <a:endParaRPr dirty="0">
              <a:solidFill>
                <a:srgbClr val="FFFFFF"/>
              </a:solidFill>
            </a:endParaRPr>
          </a:p>
        </p:txBody>
      </p:sp>
    </p:spTree>
    <p:custDataLst>
      <p:tags r:id="rId1"/>
    </p:custDataLst>
    <p:extLst>
      <p:ext uri="{BB962C8B-B14F-4D97-AF65-F5344CB8AC3E}">
        <p14:creationId xmlns:p14="http://schemas.microsoft.com/office/powerpoint/2010/main" val="409182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Requirements</a:t>
            </a:r>
          </a:p>
        </p:txBody>
      </p:sp>
      <p:sp>
        <p:nvSpPr>
          <p:cNvPr id="3" name="Content Placeholder 2"/>
          <p:cNvSpPr>
            <a:spLocks noGrp="1"/>
          </p:cNvSpPr>
          <p:nvPr>
            <p:ph idx="1"/>
          </p:nvPr>
        </p:nvSpPr>
        <p:spPr>
          <a:xfrm>
            <a:off x="6090574" y="801866"/>
            <a:ext cx="5306084" cy="5230634"/>
          </a:xfrm>
        </p:spPr>
        <p:txBody>
          <a:bodyPr anchor="ctr">
            <a:normAutofit fontScale="92500"/>
          </a:bodyPr>
          <a:lstStyle/>
          <a:p>
            <a:pPr lvl="0"/>
            <a:r>
              <a:rPr lang="en-US" b="1" dirty="0"/>
              <a:t>Core System Features (Functional):</a:t>
            </a:r>
            <a:endParaRPr lang="en-US" dirty="0"/>
          </a:p>
          <a:p>
            <a:pPr lvl="1"/>
            <a:r>
              <a:rPr lang="en-US" dirty="0"/>
              <a:t>Allows students to easily book, modify, or cancel their own driving lessons online.</a:t>
            </a:r>
          </a:p>
          <a:p>
            <a:pPr lvl="1"/>
            <a:r>
              <a:rPr lang="en-US" dirty="0"/>
              <a:t>Provides online learning portals with instructional video access and practice tests.</a:t>
            </a:r>
          </a:p>
          <a:p>
            <a:pPr lvl="0"/>
            <a:r>
              <a:rPr lang="en-US" b="1" dirty="0"/>
              <a:t>System Performance Rules (Nonfunctional):</a:t>
            </a:r>
            <a:endParaRPr lang="en-US" dirty="0"/>
          </a:p>
          <a:p>
            <a:pPr lvl="1"/>
            <a:r>
              <a:rPr lang="en-US" dirty="0"/>
              <a:t>Runs entirely online in the cloud so it works seamlessly on both computers and mobile phones.</a:t>
            </a:r>
          </a:p>
          <a:p>
            <a:pPr lvl="1"/>
            <a:r>
              <a:rPr lang="en-US" dirty="0"/>
              <a:t>Automatically pulls in updates from the DMV system in the background without slowing down the site</a:t>
            </a:r>
          </a:p>
        </p:txBody>
      </p:sp>
    </p:spTree>
    <p:custDataLst>
      <p:tags r:id="rId1"/>
    </p:custDataLst>
    <p:extLst>
      <p:ext uri="{BB962C8B-B14F-4D97-AF65-F5344CB8AC3E}">
        <p14:creationId xmlns:p14="http://schemas.microsoft.com/office/powerpoint/2010/main" val="1865885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Use Case Diagram</a:t>
            </a:r>
          </a:p>
        </p:txBody>
      </p:sp>
      <p:pic>
        <p:nvPicPr>
          <p:cNvPr id="17" name="Content Placeholder 16">
            <a:extLst>
              <a:ext uri="{FF2B5EF4-FFF2-40B4-BE49-F238E27FC236}">
                <a16:creationId xmlns:a16="http://schemas.microsoft.com/office/drawing/2014/main" id="{B908A4EB-F14A-6A2E-95DD-E0FC92290736}"/>
              </a:ext>
            </a:extLst>
          </p:cNvPr>
          <p:cNvPicPr>
            <a:picLocks noGrp="1" noChangeAspect="1"/>
          </p:cNvPicPr>
          <p:nvPr>
            <p:ph idx="1"/>
          </p:nvPr>
        </p:nvPicPr>
        <p:blipFill>
          <a:blip r:embed="rId5"/>
          <a:stretch>
            <a:fillRect/>
          </a:stretch>
        </p:blipFill>
        <p:spPr>
          <a:xfrm>
            <a:off x="5898951" y="1486381"/>
            <a:ext cx="5867540" cy="3628544"/>
          </a:xfrm>
          <a:prstGeom prst="rect">
            <a:avLst/>
          </a:prstGeom>
        </p:spPr>
      </p:pic>
    </p:spTree>
    <p:custDataLst>
      <p:tags r:id="rId1"/>
    </p:custDataLst>
    <p:extLst>
      <p:ext uri="{BB962C8B-B14F-4D97-AF65-F5344CB8AC3E}">
        <p14:creationId xmlns:p14="http://schemas.microsoft.com/office/powerpoint/2010/main" val="27764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a:solidFill>
                  <a:schemeClr val="bg1"/>
                </a:solidFill>
              </a:rPr>
              <a:t>Activity</a:t>
            </a:r>
            <a:br>
              <a:rPr lang="en-US">
                <a:solidFill>
                  <a:schemeClr val="bg1"/>
                </a:solidFill>
              </a:rPr>
            </a:br>
            <a:r>
              <a:rPr lang="en-US">
                <a:solidFill>
                  <a:schemeClr val="bg1"/>
                </a:solidFill>
              </a:rPr>
              <a:t>Diagram</a:t>
            </a:r>
            <a:endParaRPr lang="en-US" dirty="0">
              <a:solidFill>
                <a:schemeClr val="bg1"/>
              </a:solidFill>
            </a:endParaRPr>
          </a:p>
        </p:txBody>
      </p:sp>
      <p:pic>
        <p:nvPicPr>
          <p:cNvPr id="5" name="Content Placeholder 4">
            <a:extLst>
              <a:ext uri="{FF2B5EF4-FFF2-40B4-BE49-F238E27FC236}">
                <a16:creationId xmlns:a16="http://schemas.microsoft.com/office/drawing/2014/main" id="{731D627A-8ABF-8043-FC2A-7FCE3A1D3DB3}"/>
              </a:ext>
            </a:extLst>
          </p:cNvPr>
          <p:cNvPicPr>
            <a:picLocks noGrp="1" noChangeAspect="1"/>
          </p:cNvPicPr>
          <p:nvPr>
            <p:ph idx="1"/>
          </p:nvPr>
        </p:nvPicPr>
        <p:blipFill>
          <a:blip r:embed="rId5"/>
          <a:stretch>
            <a:fillRect/>
          </a:stretch>
        </p:blipFill>
        <p:spPr>
          <a:xfrm>
            <a:off x="7437803" y="801688"/>
            <a:ext cx="2612295" cy="5230812"/>
          </a:xfrm>
          <a:prstGeom prst="rect">
            <a:avLst/>
          </a:prstGeom>
        </p:spPr>
      </p:pic>
    </p:spTree>
    <p:custDataLst>
      <p:tags r:id="rId1"/>
    </p:custDataLst>
    <p:extLst>
      <p:ext uri="{BB962C8B-B14F-4D97-AF65-F5344CB8AC3E}">
        <p14:creationId xmlns:p14="http://schemas.microsoft.com/office/powerpoint/2010/main" val="3564055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Security</a:t>
            </a:r>
          </a:p>
        </p:txBody>
      </p:sp>
      <p:sp>
        <p:nvSpPr>
          <p:cNvPr id="3" name="Content Placeholder 2"/>
          <p:cNvSpPr>
            <a:spLocks noGrp="1"/>
          </p:cNvSpPr>
          <p:nvPr>
            <p:ph idx="1"/>
          </p:nvPr>
        </p:nvSpPr>
        <p:spPr>
          <a:xfrm>
            <a:off x="6090574" y="801866"/>
            <a:ext cx="5306084" cy="5230634"/>
          </a:xfrm>
        </p:spPr>
        <p:txBody>
          <a:bodyPr anchor="ctr">
            <a:normAutofit/>
          </a:bodyPr>
          <a:lstStyle/>
          <a:p>
            <a:r>
              <a:rPr lang="en-US" sz="2400" b="1" dirty="0"/>
              <a:t>Account Protection:</a:t>
            </a:r>
            <a:r>
              <a:rPr lang="en-US" sz="2400" dirty="0"/>
              <a:t> Unique usernames and passwords are required for all accounts.</a:t>
            </a:r>
          </a:p>
          <a:p>
            <a:r>
              <a:rPr lang="en-US" sz="2400" b="1" dirty="0"/>
              <a:t>Hacker Protection:</a:t>
            </a:r>
            <a:r>
              <a:rPr lang="en-US" sz="2400" dirty="0"/>
              <a:t> Automatic lockouts and alerts trigger if a password is guessed incorrectly multiple times.</a:t>
            </a:r>
          </a:p>
          <a:p>
            <a:r>
              <a:rPr lang="en-US" sz="2400" b="1" dirty="0"/>
              <a:t>Master Key Access:</a:t>
            </a:r>
            <a:r>
              <a:rPr lang="en-US" sz="2400" dirty="0"/>
              <a:t> Complete administrative override control for the IT role to instantly remove fired workers.</a:t>
            </a:r>
          </a:p>
          <a:p>
            <a:r>
              <a:rPr lang="en-US" sz="2400" b="1" dirty="0"/>
              <a:t>Data Privacy:</a:t>
            </a:r>
            <a:r>
              <a:rPr lang="en-US" sz="2400" dirty="0"/>
              <a:t> Encrypted cloud pathways protect credit card numbers and personal addresses.</a:t>
            </a:r>
          </a:p>
        </p:txBody>
      </p:sp>
    </p:spTree>
    <p:custDataLst>
      <p:tags r:id="rId1"/>
    </p:custDataLst>
    <p:extLst>
      <p:ext uri="{BB962C8B-B14F-4D97-AF65-F5344CB8AC3E}">
        <p14:creationId xmlns:p14="http://schemas.microsoft.com/office/powerpoint/2010/main" val="376843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Limitations</a:t>
            </a:r>
          </a:p>
        </p:txBody>
      </p:sp>
      <p:sp>
        <p:nvSpPr>
          <p:cNvPr id="3" name="Content Placeholder 2"/>
          <p:cNvSpPr>
            <a:spLocks noGrp="1"/>
          </p:cNvSpPr>
          <p:nvPr>
            <p:ph type="body" idx="1"/>
          </p:nvPr>
        </p:nvSpPr>
        <p:spPr>
          <a:xfrm>
            <a:off x="6090574" y="801866"/>
            <a:ext cx="5306084" cy="5230634"/>
          </a:xfrm>
        </p:spPr>
        <p:txBody>
          <a:bodyPr anchor="ctr">
            <a:normAutofit/>
          </a:bodyPr>
          <a:lstStyle/>
          <a:p>
            <a:pPr lvl="0"/>
            <a:r>
              <a:rPr lang="en-US" b="1" dirty="0"/>
              <a:t>Internet Dependency:</a:t>
            </a:r>
            <a:r>
              <a:rPr lang="en-US" dirty="0"/>
              <a:t> Users must be actively online to book or change a lesson.</a:t>
            </a:r>
          </a:p>
          <a:p>
            <a:pPr lvl="0"/>
            <a:r>
              <a:rPr lang="en-US" b="1" dirty="0"/>
              <a:t>No Coding Access for Staff:</a:t>
            </a:r>
            <a:r>
              <a:rPr lang="en-US" dirty="0"/>
              <a:t> Standard office workers can only use pre-built menu settings.</a:t>
            </a:r>
          </a:p>
          <a:p>
            <a:pPr lvl="0"/>
            <a:r>
              <a:rPr lang="en-US" b="1" dirty="0"/>
              <a:t>Fleet and Driver Constraints:</a:t>
            </a:r>
            <a:r>
              <a:rPr lang="en-US" dirty="0"/>
              <a:t> The system hard-caps scheduling to 10 concurrent lessons based on physical company assets</a:t>
            </a:r>
          </a:p>
          <a:p>
            <a:pPr lvl="0"/>
            <a:endParaRPr lang="en-US" dirty="0"/>
          </a:p>
        </p:txBody>
      </p:sp>
    </p:spTree>
    <p:custDataLst>
      <p:tags r:id="rId1"/>
    </p:custDataLst>
    <p:extLst>
      <p:ext uri="{BB962C8B-B14F-4D97-AF65-F5344CB8AC3E}">
        <p14:creationId xmlns:p14="http://schemas.microsoft.com/office/powerpoint/2010/main" val="32251416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WebD281</Template>
  <TotalTime>2029</TotalTime>
  <Words>702</Words>
  <Application>Microsoft Office PowerPoint</Application>
  <PresentationFormat>Widescreen</PresentationFormat>
  <Paragraphs>33</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DriverPass System Analysis</vt:lpstr>
      <vt:lpstr>System Requirements</vt:lpstr>
      <vt:lpstr>Use Case Diagram</vt:lpstr>
      <vt:lpstr>Activity Diagram</vt:lpstr>
      <vt:lpstr>Security</vt:lpstr>
      <vt:lpstr>System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dc:title>
  <dc:creator>Loay Alnaji</dc:creator>
  <cp:lastModifiedBy>My Family</cp:lastModifiedBy>
  <cp:revision>27</cp:revision>
  <dcterms:created xsi:type="dcterms:W3CDTF">2019-10-14T02:36:52Z</dcterms:created>
  <dcterms:modified xsi:type="dcterms:W3CDTF">2026-10-18T17:40:11Z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ies>
</file>